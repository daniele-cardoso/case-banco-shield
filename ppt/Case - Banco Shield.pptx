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78" r:id="rId3"/>
    <p:sldId id="287" r:id="rId4"/>
    <p:sldId id="288" r:id="rId5"/>
    <p:sldId id="291" r:id="rId6"/>
    <p:sldId id="289" r:id="rId7"/>
    <p:sldId id="290" r:id="rId8"/>
    <p:sldId id="292" r:id="rId9"/>
    <p:sldId id="293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60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E8DAE8"/>
    <a:srgbClr val="FF5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E1364-7331-4B1C-B11E-639CEF2188CA}" v="690" dt="2025-12-26T16:18:58.652"/>
    <p1510:client id="{7726FA6A-6513-0F9B-BFFF-472728B4DFB1}" v="1998" dt="2025-12-26T16:06:34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e Cardoso" userId="61e069b4c3375a90" providerId="LiveId" clId="{576CC0DB-8142-4B2C-A4B8-117C8C28722D}"/>
    <pc:docChg chg="custSel modSld">
      <pc:chgData name="Daniele Cardoso" userId="61e069b4c3375a90" providerId="LiveId" clId="{576CC0DB-8142-4B2C-A4B8-117C8C28722D}" dt="2025-12-26T16:21:39.596" v="35" actId="20577"/>
      <pc:docMkLst>
        <pc:docMk/>
      </pc:docMkLst>
      <pc:sldChg chg="modSp mod">
        <pc:chgData name="Daniele Cardoso" userId="61e069b4c3375a90" providerId="LiveId" clId="{576CC0DB-8142-4B2C-A4B8-117C8C28722D}" dt="2025-12-26T16:20:25.878" v="14" actId="1035"/>
        <pc:sldMkLst>
          <pc:docMk/>
          <pc:sldMk cId="3804071243" sldId="287"/>
        </pc:sldMkLst>
        <pc:spChg chg="mod">
          <ac:chgData name="Daniele Cardoso" userId="61e069b4c3375a90" providerId="LiveId" clId="{576CC0DB-8142-4B2C-A4B8-117C8C28722D}" dt="2025-12-26T16:20:25.878" v="14" actId="1035"/>
          <ac:spMkLst>
            <pc:docMk/>
            <pc:sldMk cId="3804071243" sldId="287"/>
            <ac:spMk id="10" creationId="{8AC20DC5-3DD3-C87A-F1DF-90E98C8C8706}"/>
          </ac:spMkLst>
        </pc:spChg>
      </pc:sldChg>
      <pc:sldChg chg="modSp mod">
        <pc:chgData name="Daniele Cardoso" userId="61e069b4c3375a90" providerId="LiveId" clId="{576CC0DB-8142-4B2C-A4B8-117C8C28722D}" dt="2025-12-26T16:21:39.596" v="35" actId="20577"/>
        <pc:sldMkLst>
          <pc:docMk/>
          <pc:sldMk cId="2463279873" sldId="288"/>
        </pc:sldMkLst>
        <pc:spChg chg="mod">
          <ac:chgData name="Daniele Cardoso" userId="61e069b4c3375a90" providerId="LiveId" clId="{576CC0DB-8142-4B2C-A4B8-117C8C28722D}" dt="2025-12-26T16:21:39.596" v="35" actId="20577"/>
          <ac:spMkLst>
            <pc:docMk/>
            <pc:sldMk cId="2463279873" sldId="288"/>
            <ac:spMk id="12" creationId="{745DF8C3-7281-6510-F49F-E09A9BDEC13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76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42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3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96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07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28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67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66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74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00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D093-1F3F-A5B4-123F-312855C79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782B0D7B-DAF5-8B2C-CB4F-60140AD03215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78BA99E-8250-1434-6283-19799DC41A61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9F0D7A-E2A2-EF83-8DFA-7A235F17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1895" y="1607721"/>
            <a:ext cx="9160493" cy="1689100"/>
          </a:xfrm>
        </p:spPr>
        <p:txBody>
          <a:bodyPr/>
          <a:lstStyle/>
          <a:p>
            <a:r>
              <a:rPr lang="de-DE" b="1" dirty="0">
                <a:ea typeface="+mj-lt"/>
                <a:cs typeface="+mj-lt"/>
              </a:rPr>
              <a:t>Banco Shield </a:t>
            </a: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5B7F128-C5B6-D700-5554-880067C8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2A57A8E1-E6D2-0A4E-10F7-F392D4FF0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D52242AC-4215-C3BC-3688-6F18892E0424}"/>
              </a:ext>
            </a:extLst>
          </p:cNvPr>
          <p:cNvSpPr txBox="1">
            <a:spLocks/>
          </p:cNvSpPr>
          <p:nvPr/>
        </p:nvSpPr>
        <p:spPr>
          <a:xfrm>
            <a:off x="2389239" y="3908851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i="1" dirty="0"/>
              <a:t>Case Prático -  Estágio em Engenharia de Analytics</a:t>
            </a:r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1FD8F904-3A5F-0282-C115-42A50B505F48}"/>
              </a:ext>
            </a:extLst>
          </p:cNvPr>
          <p:cNvSpPr txBox="1">
            <a:spLocks/>
          </p:cNvSpPr>
          <p:nvPr/>
        </p:nvSpPr>
        <p:spPr>
          <a:xfrm>
            <a:off x="-815019" y="617664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i="1" dirty="0"/>
              <a:t>Daniele Cardoso</a:t>
            </a:r>
          </a:p>
        </p:txBody>
      </p:sp>
    </p:spTree>
    <p:extLst>
      <p:ext uri="{BB962C8B-B14F-4D97-AF65-F5344CB8AC3E}">
        <p14:creationId xmlns:p14="http://schemas.microsoft.com/office/powerpoint/2010/main" val="42092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B381-1E0F-5220-4B08-B078DDB2D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8AF2A19D-D995-731D-30E5-4A3CDD88740C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E1B1C6F-0C51-6DD4-397A-A76E07C95C6A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639AC6D-5B89-290B-B2B6-239648E5EEBC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0FD9B5-F2E0-0332-099B-B16F5FB8A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076" y="1306310"/>
            <a:ext cx="9008417" cy="792696"/>
          </a:xfrm>
        </p:spPr>
        <p:txBody>
          <a:bodyPr>
            <a:noAutofit/>
          </a:bodyPr>
          <a:lstStyle/>
          <a:p>
            <a:r>
              <a:rPr lang="de-DE" sz="3200" i="1" dirty="0">
                <a:ea typeface="+mj-lt"/>
                <a:cs typeface="+mj-lt"/>
              </a:rPr>
              <a:t>problema → confiabilidade → insights → ações</a:t>
            </a:r>
            <a:endParaRPr lang="pt-BR" sz="3200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E30E94-64F2-C54B-6D75-6F54F5123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5565" y="2803928"/>
            <a:ext cx="427752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Contexto do case e regras de negócio.</a:t>
            </a: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E7BCF4-2CDE-B841-D9DE-83C4576A4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6A29D0F2-873A-FDBC-9357-66275A535D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15BE60D-801F-38DB-FF1E-C50D99C89E30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 dirty="0"/>
              <a:t>Objetivos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F74FB20-568F-4293-90A5-AEF8BDDD165A}"/>
              </a:ext>
            </a:extLst>
          </p:cNvPr>
          <p:cNvSpPr txBox="1">
            <a:spLocks/>
          </p:cNvSpPr>
          <p:nvPr/>
        </p:nvSpPr>
        <p:spPr>
          <a:xfrm>
            <a:off x="2614530" y="4545795"/>
            <a:ext cx="4238555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Pipeline de dados e qualidade (antes/depois + auditoria).​</a:t>
            </a:r>
            <a:endParaRPr lang="de-DE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6CB5A344-EF58-3A63-F783-648C4F617D64}"/>
              </a:ext>
            </a:extLst>
          </p:cNvPr>
          <p:cNvSpPr txBox="1">
            <a:spLocks/>
          </p:cNvSpPr>
          <p:nvPr/>
        </p:nvSpPr>
        <p:spPr>
          <a:xfrm>
            <a:off x="7798354" y="2803928"/>
            <a:ext cx="3469415" cy="1020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Insights do dashboard (5 perguntas).</a:t>
            </a:r>
            <a:endParaRPr lang="de-DE" dirty="0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041E9F93-4D17-2556-DFBA-9A501D7F895B}"/>
              </a:ext>
            </a:extLst>
          </p:cNvPr>
          <p:cNvSpPr txBox="1">
            <a:spLocks/>
          </p:cNvSpPr>
          <p:nvPr/>
        </p:nvSpPr>
        <p:spPr>
          <a:xfrm>
            <a:off x="7823282" y="4654040"/>
            <a:ext cx="358631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Recomendações e próximos passos.</a:t>
            </a:r>
            <a:endParaRPr lang="de-DE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FEA9AD1-1A72-9799-BEEB-DEEF4EA59C28}"/>
              </a:ext>
            </a:extLst>
          </p:cNvPr>
          <p:cNvSpPr/>
          <p:nvPr/>
        </p:nvSpPr>
        <p:spPr>
          <a:xfrm>
            <a:off x="2575563" y="4397738"/>
            <a:ext cx="4051380" cy="159479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E0E5F38-E6A4-F5C1-F320-264287395F21}"/>
              </a:ext>
            </a:extLst>
          </p:cNvPr>
          <p:cNvSpPr/>
          <p:nvPr/>
        </p:nvSpPr>
        <p:spPr>
          <a:xfrm>
            <a:off x="7573953" y="4397738"/>
            <a:ext cx="4051379" cy="165576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C83D97C-ABD1-682B-3540-7654F50A7F4F}"/>
              </a:ext>
            </a:extLst>
          </p:cNvPr>
          <p:cNvSpPr/>
          <p:nvPr/>
        </p:nvSpPr>
        <p:spPr>
          <a:xfrm>
            <a:off x="7548519" y="2517644"/>
            <a:ext cx="4051379" cy="153324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7FE1B1D-AEEE-5BA4-7639-32132ED072FF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6447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CCA0F-B263-6A9E-2640-72A5C01B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D91B5F80-CD95-1A6D-DCC3-AAD580BE2DA6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EBEEE8F-FDCB-8A9C-D057-D36E84109E2C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725F40F-DAE9-4B20-C3D6-1762E072DAB8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B8BC2E5-C4DD-62D9-A911-B0C454BE7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076" y="1352773"/>
            <a:ext cx="9119929" cy="727648"/>
          </a:xfrm>
        </p:spPr>
        <p:txBody>
          <a:bodyPr>
            <a:noAutofit/>
          </a:bodyPr>
          <a:lstStyle/>
          <a:p>
            <a:r>
              <a:rPr lang="pt-BR" sz="3200" i="1"/>
              <a:t>Google Colab + Arquivos CSV + Power BI + GitHub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A64A15-53E0-5FFD-E77D-06E6A294A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5076" y="2631674"/>
            <a:ext cx="4221765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Google Colab: </a:t>
            </a:r>
            <a:r>
              <a:rPr lang="pt-BR" dirty="0">
                <a:ea typeface="+mn-lt"/>
                <a:cs typeface="+mn-lt"/>
              </a:rPr>
              <a:t>gratuita, fácil utilização e visualização dos dados</a:t>
            </a:r>
            <a:r>
              <a:rPr lang="pt-BR" dirty="0"/>
              <a:t>.</a:t>
            </a: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8CA011-B553-8615-9787-4CC783C1A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E17D4557-B8E3-AC0B-5F1E-DD8331424E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D79B41B3-5E59-B585-A978-FE214CC0BDF0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Ferramentas</a:t>
            </a:r>
            <a:endParaRPr lang="pt-BR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2EEA8E77-5ADA-2C3A-C887-46425DCA63DC}"/>
              </a:ext>
            </a:extLst>
          </p:cNvPr>
          <p:cNvSpPr txBox="1">
            <a:spLocks/>
          </p:cNvSpPr>
          <p:nvPr/>
        </p:nvSpPr>
        <p:spPr>
          <a:xfrm>
            <a:off x="2623365" y="4504463"/>
            <a:ext cx="4061995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Arquivos CSV: </a:t>
            </a:r>
            <a:r>
              <a:rPr lang="pt-BR" dirty="0">
                <a:ea typeface="+mn-lt"/>
                <a:cs typeface="+mn-lt"/>
              </a:rPr>
              <a:t>rápida manipulação dos dados e auditoria. Preferível quando os dados são estáticos. </a:t>
            </a:r>
            <a:r>
              <a:rPr lang="pt-BR" dirty="0"/>
              <a:t>​</a:t>
            </a:r>
            <a:endParaRPr lang="de-DE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8AC20DC5-3DD3-C87A-F1DF-90E98C8C8706}"/>
              </a:ext>
            </a:extLst>
          </p:cNvPr>
          <p:cNvSpPr txBox="1">
            <a:spLocks/>
          </p:cNvSpPr>
          <p:nvPr/>
        </p:nvSpPr>
        <p:spPr>
          <a:xfrm>
            <a:off x="7397393" y="2571491"/>
            <a:ext cx="4389389" cy="159696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Microsoft Power BI: </a:t>
            </a:r>
            <a:r>
              <a:rPr lang="pt-BR" sz="2200" dirty="0"/>
              <a:t>f</a:t>
            </a:r>
            <a:r>
              <a:rPr lang="pt-BR" dirty="0"/>
              <a:t>erramenta intuitiva para criação de dashboards que inclui manipulação e relacionamento de dados.</a:t>
            </a:r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14235E28-459A-0374-7CCB-51AF3F6C2DE4}"/>
              </a:ext>
            </a:extLst>
          </p:cNvPr>
          <p:cNvSpPr txBox="1">
            <a:spLocks/>
          </p:cNvSpPr>
          <p:nvPr/>
        </p:nvSpPr>
        <p:spPr>
          <a:xfrm>
            <a:off x="7455810" y="4552688"/>
            <a:ext cx="4125284" cy="1804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GitHub: </a:t>
            </a:r>
            <a:r>
              <a:rPr lang="pt-BR" dirty="0"/>
              <a:t>plataforma aberta para publicação e versionamento.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0776CE0-E017-F9F5-FD5C-6395AFA6F7AE}"/>
              </a:ext>
            </a:extLst>
          </p:cNvPr>
          <p:cNvSpPr/>
          <p:nvPr/>
        </p:nvSpPr>
        <p:spPr>
          <a:xfrm>
            <a:off x="2575563" y="4397738"/>
            <a:ext cx="4051380" cy="159479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105517B9-7B3E-6E79-B0F2-BF7636B3B563}"/>
              </a:ext>
            </a:extLst>
          </p:cNvPr>
          <p:cNvSpPr/>
          <p:nvPr/>
        </p:nvSpPr>
        <p:spPr>
          <a:xfrm>
            <a:off x="7397393" y="4397738"/>
            <a:ext cx="4246524" cy="165576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4B1FFBD-FC5E-7E01-DD6B-CEDCD32A5E27}"/>
              </a:ext>
            </a:extLst>
          </p:cNvPr>
          <p:cNvSpPr/>
          <p:nvPr/>
        </p:nvSpPr>
        <p:spPr>
          <a:xfrm>
            <a:off x="7399837" y="2517644"/>
            <a:ext cx="4237231" cy="153324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E0827C8-4D17-F784-4A28-97BDB8FE1343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0712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83AFF-FF7B-A8D4-8146-0DACBA85C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DA477EA9-4316-D50D-080A-B43119554BAC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4EB5719-49AE-E831-90B1-7E93EB451372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01C102-F2EE-CEBA-1770-1DE8C9D0E73E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C46934-DC06-D4B2-373E-075AD31D9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076" y="1352773"/>
            <a:ext cx="9119929" cy="727648"/>
          </a:xfrm>
        </p:spPr>
        <p:txBody>
          <a:bodyPr>
            <a:noAutofit/>
          </a:bodyPr>
          <a:lstStyle/>
          <a:p>
            <a:r>
              <a:rPr lang="pt-BR" sz="3200" i="1"/>
              <a:t>Padronização + Validação + Auditoria + Precisão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AD30F4-7C95-A177-3E85-E404C4F34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4858" y="2515855"/>
            <a:ext cx="3804368" cy="1665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Padronização: </a:t>
            </a:r>
            <a:r>
              <a:rPr lang="pt-BR" sz="2200" dirty="0">
                <a:ea typeface="+mn-lt"/>
                <a:cs typeface="+mn-lt"/>
              </a:rPr>
              <a:t>f</a:t>
            </a:r>
            <a:r>
              <a:rPr lang="pt-BR" sz="2200" dirty="0"/>
              <a:t>ormata os dados com a finalidade de aumentar a confiança e realizar análise estatística.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75F2D5-24C5-A463-9060-B2B6FC6BC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DBAF7209-1B05-74F1-4BF3-D030A1449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02CDF70-B833-76BA-EA3D-983349182367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5F5CADC4-88D7-3F0A-5E32-AE44909A9CF9}"/>
              </a:ext>
            </a:extLst>
          </p:cNvPr>
          <p:cNvSpPr txBox="1">
            <a:spLocks/>
          </p:cNvSpPr>
          <p:nvPr/>
        </p:nvSpPr>
        <p:spPr>
          <a:xfrm>
            <a:off x="2586652" y="4397112"/>
            <a:ext cx="4061995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Validação: </a:t>
            </a:r>
            <a:r>
              <a:rPr lang="pt-BR" sz="2200" dirty="0">
                <a:ea typeface="+mn-lt"/>
                <a:cs typeface="+mn-lt"/>
              </a:rPr>
              <a:t>v</a:t>
            </a:r>
            <a:r>
              <a:rPr lang="pt-BR" sz="2200" dirty="0"/>
              <a:t>erificação se os dados condizem com as regras de negócio e a padronização.​</a:t>
            </a:r>
            <a:endParaRPr lang="de-DE" sz="2200" dirty="0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745DF8C3-7281-6510-F49F-E09A9BDEC133}"/>
              </a:ext>
            </a:extLst>
          </p:cNvPr>
          <p:cNvSpPr txBox="1">
            <a:spLocks/>
          </p:cNvSpPr>
          <p:nvPr/>
        </p:nvSpPr>
        <p:spPr>
          <a:xfrm>
            <a:off x="7396505" y="4397113"/>
            <a:ext cx="4125284" cy="18044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Precisão: </a:t>
            </a:r>
            <a:r>
              <a:rPr lang="pt-BR" sz="2200" dirty="0"/>
              <a:t>quanto maior o volume de dados no </a:t>
            </a:r>
            <a:r>
              <a:rPr lang="pt-BR" sz="2200" dirty="0" err="1"/>
              <a:t>DataSet</a:t>
            </a:r>
            <a:r>
              <a:rPr lang="pt-BR" sz="2200"/>
              <a:t>, </a:t>
            </a:r>
            <a:r>
              <a:rPr lang="pt-BR" sz="2200" dirty="0"/>
              <a:t>maior tende </a:t>
            </a:r>
            <a:r>
              <a:rPr lang="pt-BR" sz="2200"/>
              <a:t>a ser </a:t>
            </a:r>
            <a:r>
              <a:rPr lang="pt-BR" sz="2200" dirty="0"/>
              <a:t>a precisão da análise.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7AA4955-B66D-3D8C-F4EA-E46EA0425C5A}"/>
              </a:ext>
            </a:extLst>
          </p:cNvPr>
          <p:cNvSpPr/>
          <p:nvPr/>
        </p:nvSpPr>
        <p:spPr>
          <a:xfrm>
            <a:off x="2575563" y="4397738"/>
            <a:ext cx="4051380" cy="159479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2E6EA1E0-C23E-A46D-6469-3BE1916D7645}"/>
              </a:ext>
            </a:extLst>
          </p:cNvPr>
          <p:cNvSpPr/>
          <p:nvPr/>
        </p:nvSpPr>
        <p:spPr>
          <a:xfrm>
            <a:off x="7397393" y="4397738"/>
            <a:ext cx="4246524" cy="165576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84DFD63-4819-3932-CB6E-413E92D8105C}"/>
              </a:ext>
            </a:extLst>
          </p:cNvPr>
          <p:cNvSpPr/>
          <p:nvPr/>
        </p:nvSpPr>
        <p:spPr>
          <a:xfrm>
            <a:off x="7399837" y="2517644"/>
            <a:ext cx="4237231" cy="1533247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40865A4-210C-2671-076A-6B851ECD6F73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ubtítulo 2">
            <a:extLst>
              <a:ext uri="{FF2B5EF4-FFF2-40B4-BE49-F238E27FC236}">
                <a16:creationId xmlns:a16="http://schemas.microsoft.com/office/drawing/2014/main" id="{D960779C-9E86-1EAE-BF84-076E6B29F8E1}"/>
              </a:ext>
            </a:extLst>
          </p:cNvPr>
          <p:cNvSpPr txBox="1">
            <a:spLocks/>
          </p:cNvSpPr>
          <p:nvPr/>
        </p:nvSpPr>
        <p:spPr>
          <a:xfrm>
            <a:off x="7428140" y="2519990"/>
            <a:ext cx="4061995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b="1" dirty="0">
                <a:solidFill>
                  <a:schemeClr val="tx2">
                    <a:lumMod val="75000"/>
                    <a:lumOff val="25000"/>
                  </a:schemeClr>
                </a:solidFill>
                <a:ea typeface="+mn-lt"/>
                <a:cs typeface="+mn-lt"/>
              </a:rPr>
              <a:t>Auditoria: </a:t>
            </a:r>
            <a:r>
              <a:rPr lang="pt-BR" sz="2200" dirty="0">
                <a:ea typeface="+mn-lt"/>
                <a:cs typeface="+mn-lt"/>
              </a:rPr>
              <a:t>r</a:t>
            </a:r>
            <a:r>
              <a:rPr lang="pt-BR" sz="2200" dirty="0"/>
              <a:t>astreabilidade e reversibilidade no tratamento dos dados.​</a:t>
            </a:r>
            <a:endParaRPr lang="de-DE" sz="2200" dirty="0"/>
          </a:p>
        </p:txBody>
      </p:sp>
    </p:spTree>
    <p:extLst>
      <p:ext uri="{BB962C8B-B14F-4D97-AF65-F5344CB8AC3E}">
        <p14:creationId xmlns:p14="http://schemas.microsoft.com/office/powerpoint/2010/main" val="2463279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76280-79E4-52FF-B0F9-9A8F6BDD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B6CA683-4315-B299-76A1-66AA59F02EC0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1D13D61-74CA-89A3-8792-39E755FC5C5D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B74E646-2FF7-3B9F-E4FC-DA01A80AD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930" y="1343480"/>
            <a:ext cx="9640318" cy="746233"/>
          </a:xfrm>
        </p:spPr>
        <p:txBody>
          <a:bodyPr>
            <a:noAutofit/>
          </a:bodyPr>
          <a:lstStyle/>
          <a:p>
            <a:r>
              <a:rPr lang="pt-BR" sz="3200" i="1"/>
              <a:t> Correção de duplicatas de contract_id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C32CB1-665F-5134-B967-B4B0ED17F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4665" y="2742851"/>
            <a:ext cx="3970863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 dirty="0">
                <a:ea typeface="+mn-lt"/>
                <a:cs typeface="+mn-lt"/>
              </a:rPr>
              <a:t>Devido ao </a:t>
            </a:r>
            <a:r>
              <a:rPr lang="pt-BR" sz="2200" dirty="0" err="1">
                <a:ea typeface="+mn-lt"/>
                <a:cs typeface="+mn-lt"/>
              </a:rPr>
              <a:t>contract_id</a:t>
            </a:r>
            <a:r>
              <a:rPr lang="pt-BR" sz="2200" dirty="0">
                <a:ea typeface="+mn-lt"/>
                <a:cs typeface="+mn-lt"/>
              </a:rPr>
              <a:t> ser a chave primária, não é aceito duplicatas.</a:t>
            </a:r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4AC06E0-AD5A-F88D-0CBA-E1219AC48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EB1F32C4-DBC1-6C15-A4DA-B9E57B9A43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DC6076D-DE6E-000A-2D8F-DA6068029715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452C379-8F57-DD7C-B8B3-24DFB6E3CF94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074B8AD-1827-04B3-19FD-15113F1A4790}"/>
              </a:ext>
            </a:extLst>
          </p:cNvPr>
          <p:cNvSpPr/>
          <p:nvPr/>
        </p:nvSpPr>
        <p:spPr>
          <a:xfrm>
            <a:off x="2575564" y="2517059"/>
            <a:ext cx="4051379" cy="165576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9F9E049B-34B3-D392-1E7D-A7AAA54A04B6}"/>
              </a:ext>
            </a:extLst>
          </p:cNvPr>
          <p:cNvSpPr txBox="1">
            <a:spLocks/>
          </p:cNvSpPr>
          <p:nvPr/>
        </p:nvSpPr>
        <p:spPr>
          <a:xfrm>
            <a:off x="2690620" y="4508378"/>
            <a:ext cx="4054496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Foi mantida a primeira ocorrência da duplicata do </a:t>
            </a:r>
            <a:r>
              <a:rPr lang="pt-BR" sz="2200" dirty="0" err="1">
                <a:ea typeface="+mn-lt"/>
                <a:cs typeface="+mn-lt"/>
              </a:rPr>
              <a:t>contract_id</a:t>
            </a:r>
            <a:r>
              <a:rPr lang="pt-BR" sz="2200" dirty="0">
                <a:ea typeface="+mn-lt"/>
                <a:cs typeface="+mn-lt"/>
              </a:rPr>
              <a:t> e incremento na regra para reinserção da segunda ocorrência.</a:t>
            </a:r>
            <a:endParaRPr lang="pt-BR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618EE35-E0B5-9A64-922F-BB8B20A8EEF5}"/>
              </a:ext>
            </a:extLst>
          </p:cNvPr>
          <p:cNvSpPr/>
          <p:nvPr/>
        </p:nvSpPr>
        <p:spPr>
          <a:xfrm>
            <a:off x="2594149" y="4440644"/>
            <a:ext cx="4051379" cy="165576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ubtítulo 2">
            <a:extLst>
              <a:ext uri="{FF2B5EF4-FFF2-40B4-BE49-F238E27FC236}">
                <a16:creationId xmlns:a16="http://schemas.microsoft.com/office/drawing/2014/main" id="{327AC81A-6E4D-0D6B-F273-8ECF61647B6C}"/>
              </a:ext>
            </a:extLst>
          </p:cNvPr>
          <p:cNvSpPr txBox="1">
            <a:spLocks/>
          </p:cNvSpPr>
          <p:nvPr/>
        </p:nvSpPr>
        <p:spPr>
          <a:xfrm>
            <a:off x="7337135" y="2721743"/>
            <a:ext cx="3831472" cy="1256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Análise da regra de criação de </a:t>
            </a:r>
            <a:r>
              <a:rPr lang="pt-BR" sz="2200" dirty="0" err="1">
                <a:ea typeface="+mn-lt"/>
                <a:cs typeface="+mn-lt"/>
              </a:rPr>
              <a:t>contract_id</a:t>
            </a:r>
            <a:r>
              <a:rPr lang="pt-BR" sz="2200" dirty="0">
                <a:ea typeface="+mn-lt"/>
                <a:cs typeface="+mn-lt"/>
              </a:rPr>
              <a:t>. C + </a:t>
            </a:r>
            <a:r>
              <a:rPr lang="pt-BR" sz="2200" dirty="0" err="1">
                <a:ea typeface="+mn-lt"/>
                <a:cs typeface="+mn-lt"/>
              </a:rPr>
              <a:t>ano_mes</a:t>
            </a:r>
            <a:r>
              <a:rPr lang="pt-BR" sz="2200" dirty="0">
                <a:ea typeface="+mn-lt"/>
                <a:cs typeface="+mn-lt"/>
              </a:rPr>
              <a:t> + "-" + </a:t>
            </a:r>
            <a:r>
              <a:rPr lang="pt-BR" sz="2200" dirty="0" err="1">
                <a:ea typeface="+mn-lt"/>
                <a:cs typeface="+mn-lt"/>
              </a:rPr>
              <a:t>code</a:t>
            </a:r>
            <a:r>
              <a:rPr lang="pt-BR" sz="2200" dirty="0">
                <a:ea typeface="+mn-lt"/>
                <a:cs typeface="+mn-lt"/>
              </a:rPr>
              <a:t> + "-" + NNNNNN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B92F64C3-3ADC-3A4E-D6DF-BD3ED39F4CBE}"/>
              </a:ext>
            </a:extLst>
          </p:cNvPr>
          <p:cNvSpPr/>
          <p:nvPr/>
        </p:nvSpPr>
        <p:spPr>
          <a:xfrm>
            <a:off x="7268368" y="2544935"/>
            <a:ext cx="4051379" cy="1627885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ubtítulo 2">
            <a:extLst>
              <a:ext uri="{FF2B5EF4-FFF2-40B4-BE49-F238E27FC236}">
                <a16:creationId xmlns:a16="http://schemas.microsoft.com/office/drawing/2014/main" id="{128346AE-2BD0-7BB1-7ACB-1260C8F7D8B2}"/>
              </a:ext>
            </a:extLst>
          </p:cNvPr>
          <p:cNvSpPr txBox="1">
            <a:spLocks/>
          </p:cNvSpPr>
          <p:nvPr/>
        </p:nvSpPr>
        <p:spPr>
          <a:xfrm>
            <a:off x="7337135" y="4618139"/>
            <a:ext cx="4119545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Não foi removido nenhum dado devido a correção da chave primária sem distorcer os dados.</a:t>
            </a:r>
            <a:endParaRPr lang="pt-BR" sz="2200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6D052CA-FC0F-8788-A1F7-0B8C8A403496}"/>
              </a:ext>
            </a:extLst>
          </p:cNvPr>
          <p:cNvSpPr/>
          <p:nvPr/>
        </p:nvSpPr>
        <p:spPr>
          <a:xfrm>
            <a:off x="7259075" y="4431350"/>
            <a:ext cx="4051379" cy="1665049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284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B26C-B6B5-74F5-5A4F-38534BCE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1ADDB5DD-E9F8-2EE6-FD84-15F9825F3190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09FD87D-0C6A-F498-CFBE-EF7542001B12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AD70FC-5569-787C-57E0-39894EE3F2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5076" y="1352773"/>
            <a:ext cx="9119929" cy="727648"/>
          </a:xfrm>
        </p:spPr>
        <p:txBody>
          <a:bodyPr>
            <a:noAutofit/>
          </a:bodyPr>
          <a:lstStyle/>
          <a:p>
            <a:r>
              <a:rPr lang="pt-BR" sz="3200" i="1"/>
              <a:t>Padronização bank e Correção ano_mes inválido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60C766-9CD5-7D9D-0DB0-66C20A488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2209" y="2724267"/>
            <a:ext cx="4342569" cy="16650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 dirty="0">
                <a:ea typeface="+mn-lt"/>
                <a:cs typeface="+mn-lt"/>
              </a:rPr>
              <a:t>Havia bank Banco Shield, S.H.I.E.L.D, </a:t>
            </a:r>
            <a:r>
              <a:rPr lang="pt-BR" sz="2200" dirty="0" err="1">
                <a:ea typeface="+mn-lt"/>
                <a:cs typeface="+mn-lt"/>
              </a:rPr>
              <a:t>Hydra</a:t>
            </a:r>
            <a:r>
              <a:rPr lang="pt-BR" sz="2200" dirty="0">
                <a:ea typeface="+mn-lt"/>
                <a:cs typeface="+mn-lt"/>
              </a:rPr>
              <a:t> e Hidra.</a:t>
            </a:r>
            <a:endParaRPr lang="pt-BR" sz="22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A016F9-51C4-10B3-26BA-B725FF9EC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A3678FB4-DC33-B747-F878-9CF92AD3D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F6470EDB-DFA9-E466-2418-6144AF763407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11CA653F-89F8-4C1E-D0CA-E30A01E471B5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1551A4F-9F04-871E-1369-CD902A82E407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7F541DAE-A20E-E154-51ED-BB87B8E9EDDA}"/>
              </a:ext>
            </a:extLst>
          </p:cNvPr>
          <p:cNvSpPr txBox="1">
            <a:spLocks/>
          </p:cNvSpPr>
          <p:nvPr/>
        </p:nvSpPr>
        <p:spPr>
          <a:xfrm>
            <a:off x="2690620" y="4596529"/>
            <a:ext cx="4119545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Na padronização foram substituídos S.H.I.E.L.D por “Banco Shield’ e  </a:t>
            </a:r>
            <a:r>
              <a:rPr lang="pt-BR" sz="2200" dirty="0" err="1">
                <a:ea typeface="+mn-lt"/>
                <a:cs typeface="+mn-lt"/>
              </a:rPr>
              <a:t>Hydra</a:t>
            </a:r>
            <a:r>
              <a:rPr lang="pt-BR" sz="2200" dirty="0">
                <a:ea typeface="+mn-lt"/>
                <a:cs typeface="+mn-lt"/>
              </a:rPr>
              <a:t> por “Hidra”.</a:t>
            </a:r>
            <a:endParaRPr lang="pt-BR" sz="2200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239E969D-1386-CCFC-FAFD-7D1FA6AC2DDC}"/>
              </a:ext>
            </a:extLst>
          </p:cNvPr>
          <p:cNvSpPr/>
          <p:nvPr/>
        </p:nvSpPr>
        <p:spPr>
          <a:xfrm>
            <a:off x="2594149" y="4440644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ubtítulo 2">
            <a:extLst>
              <a:ext uri="{FF2B5EF4-FFF2-40B4-BE49-F238E27FC236}">
                <a16:creationId xmlns:a16="http://schemas.microsoft.com/office/drawing/2014/main" id="{BD0C7B97-5CCC-DCF4-605A-6C0FE919C9A0}"/>
              </a:ext>
            </a:extLst>
          </p:cNvPr>
          <p:cNvSpPr txBox="1">
            <a:spLocks/>
          </p:cNvSpPr>
          <p:nvPr/>
        </p:nvSpPr>
        <p:spPr>
          <a:xfrm>
            <a:off x="7378321" y="2729992"/>
            <a:ext cx="3831472" cy="1256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Data errada 202513.</a:t>
            </a:r>
            <a:endParaRPr lang="pt-BR" sz="2200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48E9051-F183-2A10-EBAC-C3FB899D5E3B}"/>
              </a:ext>
            </a:extLst>
          </p:cNvPr>
          <p:cNvSpPr/>
          <p:nvPr/>
        </p:nvSpPr>
        <p:spPr>
          <a:xfrm>
            <a:off x="7268368" y="2544936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ubtítulo 2">
            <a:extLst>
              <a:ext uri="{FF2B5EF4-FFF2-40B4-BE49-F238E27FC236}">
                <a16:creationId xmlns:a16="http://schemas.microsoft.com/office/drawing/2014/main" id="{CA89A52B-34DC-648E-6E20-FA4FD3D36802}"/>
              </a:ext>
            </a:extLst>
          </p:cNvPr>
          <p:cNvSpPr txBox="1">
            <a:spLocks/>
          </p:cNvSpPr>
          <p:nvPr/>
        </p:nvSpPr>
        <p:spPr>
          <a:xfrm>
            <a:off x="7337135" y="4508205"/>
            <a:ext cx="4119545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Com base na regra de criação do </a:t>
            </a:r>
            <a:r>
              <a:rPr lang="pt-BR" sz="2200" dirty="0" err="1">
                <a:ea typeface="+mn-lt"/>
                <a:cs typeface="+mn-lt"/>
              </a:rPr>
              <a:t>contract_id</a:t>
            </a:r>
            <a:r>
              <a:rPr lang="pt-BR" sz="2200" dirty="0">
                <a:ea typeface="+mn-lt"/>
                <a:cs typeface="+mn-lt"/>
              </a:rPr>
              <a:t> foi possível identificar a data correta e fazer os devidos ajustes.</a:t>
            </a:r>
            <a:endParaRPr lang="pt-BR" sz="2200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820A801-6F01-1CF9-18E1-1D4BD577122F}"/>
              </a:ext>
            </a:extLst>
          </p:cNvPr>
          <p:cNvSpPr/>
          <p:nvPr/>
        </p:nvSpPr>
        <p:spPr>
          <a:xfrm>
            <a:off x="7259075" y="4431351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2523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AFFE-1EBF-8910-F2F7-F96840B2F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A7C88227-5531-0378-799D-872B4D67690C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A6BA51-1A3F-D564-C815-480C4270E6D3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546074-5356-F8C8-9A11-9A850DC56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930" y="1343480"/>
            <a:ext cx="9640318" cy="746233"/>
          </a:xfrm>
        </p:spPr>
        <p:txBody>
          <a:bodyPr>
            <a:noAutofit/>
          </a:bodyPr>
          <a:lstStyle/>
          <a:p>
            <a:r>
              <a:rPr lang="pt-BR" sz="3200" i="1" dirty="0"/>
              <a:t> Correção de valores negativos </a:t>
            </a:r>
            <a:r>
              <a:rPr lang="pt-BR" sz="3200">
                <a:ea typeface="+mj-lt"/>
                <a:cs typeface="+mj-lt"/>
              </a:rPr>
              <a:t>financed_amount</a:t>
            </a:r>
            <a:endParaRPr lang="pt-BR" sz="3200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09A53C-86EF-78E3-92A5-CB2E36ED1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7784" y="2608781"/>
            <a:ext cx="3970863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>
                <a:ea typeface="+mn-lt"/>
                <a:cs typeface="+mn-lt"/>
              </a:rPr>
              <a:t>Devido a regras de negócio, não é possível existir valor de financiamento negativo.</a:t>
            </a:r>
            <a:endParaRPr lang="pt-BR" sz="22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11B28AF-4057-4AE5-30CD-53BCB49F8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7638A799-A456-7D1B-9F6B-3FD783C88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018546C-1360-F9EC-AE0F-D496E3623329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9EA10A6-5EE9-174F-E08D-5842C5AA48F0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DFCB12F8-091F-7E25-906A-4ACA04316797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818167B8-3822-61DB-4F83-7E857FEE9761}"/>
              </a:ext>
            </a:extLst>
          </p:cNvPr>
          <p:cNvSpPr txBox="1">
            <a:spLocks/>
          </p:cNvSpPr>
          <p:nvPr/>
        </p:nvSpPr>
        <p:spPr>
          <a:xfrm>
            <a:off x="2681501" y="4443157"/>
            <a:ext cx="4203179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Conclusão de que, em módulo, os valores negativos de </a:t>
            </a:r>
            <a:r>
              <a:rPr lang="pt-BR" sz="2200" dirty="0" err="1">
                <a:ea typeface="+mn-lt"/>
                <a:cs typeface="+mn-lt"/>
              </a:rPr>
              <a:t>financed_amount</a:t>
            </a:r>
            <a:r>
              <a:rPr lang="pt-BR" sz="2200" dirty="0">
                <a:ea typeface="+mn-lt"/>
                <a:cs typeface="+mn-lt"/>
              </a:rPr>
              <a:t> são condizentes com a lógica do </a:t>
            </a:r>
            <a:r>
              <a:rPr lang="pt-BR" sz="2200" dirty="0" err="1">
                <a:ea typeface="+mn-lt"/>
                <a:cs typeface="+mn-lt"/>
              </a:rPr>
              <a:t>DataSet</a:t>
            </a:r>
            <a:r>
              <a:rPr lang="pt-BR" sz="2200" dirty="0">
                <a:ea typeface="+mn-lt"/>
                <a:cs typeface="+mn-lt"/>
              </a:rPr>
              <a:t>.</a:t>
            </a:r>
            <a:endParaRPr lang="pt-BR" sz="2200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D3912F6-7AA4-BE0C-29EB-F5B9B1E0460B}"/>
              </a:ext>
            </a:extLst>
          </p:cNvPr>
          <p:cNvSpPr/>
          <p:nvPr/>
        </p:nvSpPr>
        <p:spPr>
          <a:xfrm>
            <a:off x="2594149" y="4440644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Subtítulo 2">
            <a:extLst>
              <a:ext uri="{FF2B5EF4-FFF2-40B4-BE49-F238E27FC236}">
                <a16:creationId xmlns:a16="http://schemas.microsoft.com/office/drawing/2014/main" id="{3EBE7C1D-3432-4350-8659-3BD717DD0888}"/>
              </a:ext>
            </a:extLst>
          </p:cNvPr>
          <p:cNvSpPr txBox="1">
            <a:spLocks/>
          </p:cNvSpPr>
          <p:nvPr/>
        </p:nvSpPr>
        <p:spPr>
          <a:xfrm>
            <a:off x="7337136" y="2603206"/>
            <a:ext cx="3831472" cy="1256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>
                <a:ea typeface="+mn-lt"/>
                <a:cs typeface="+mn-lt"/>
              </a:rPr>
              <a:t>Análise de financed_amount e outstanding_balance por product_id similares.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733A358-D018-6BAC-E55F-F4B9BE94B91C}"/>
              </a:ext>
            </a:extLst>
          </p:cNvPr>
          <p:cNvSpPr/>
          <p:nvPr/>
        </p:nvSpPr>
        <p:spPr>
          <a:xfrm>
            <a:off x="7268368" y="2544936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ubtítulo 2">
            <a:extLst>
              <a:ext uri="{FF2B5EF4-FFF2-40B4-BE49-F238E27FC236}">
                <a16:creationId xmlns:a16="http://schemas.microsoft.com/office/drawing/2014/main" id="{D678960E-2F98-25C9-E584-7FC311D9B575}"/>
              </a:ext>
            </a:extLst>
          </p:cNvPr>
          <p:cNvSpPr txBox="1">
            <a:spLocks/>
          </p:cNvSpPr>
          <p:nvPr/>
        </p:nvSpPr>
        <p:spPr>
          <a:xfrm>
            <a:off x="7337135" y="4508205"/>
            <a:ext cx="3831473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Foi alterado somente o sinal dos valores negativos sem perder dados com remoção.</a:t>
            </a:r>
            <a:endParaRPr lang="pt-BR" sz="2200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80E99E0-FF85-47DF-F6EE-42EF8C805D91}"/>
              </a:ext>
            </a:extLst>
          </p:cNvPr>
          <p:cNvSpPr/>
          <p:nvPr/>
        </p:nvSpPr>
        <p:spPr>
          <a:xfrm>
            <a:off x="7259075" y="4431351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289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F2E4-4C8B-A248-09DE-62AB0B6D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1952DBF0-EC1B-F81D-A3F8-02E502F989E3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1821D5C-A769-B25A-CA06-5E1FCF74DA74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8D2ACD-B9F2-E14F-95F4-2ACBBD550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930" y="1343480"/>
            <a:ext cx="9640318" cy="746233"/>
          </a:xfrm>
        </p:spPr>
        <p:txBody>
          <a:bodyPr>
            <a:noAutofit/>
          </a:bodyPr>
          <a:lstStyle/>
          <a:p>
            <a:r>
              <a:rPr lang="pt-BR" sz="3200" i="1"/>
              <a:t>Remoção de dados product_id e location_id nulos</a:t>
            </a:r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69646E-E6F4-C06F-F22F-7C0A17B7C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4002" y="3511606"/>
            <a:ext cx="3970863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>
                <a:ea typeface="+mn-lt"/>
                <a:cs typeface="+mn-lt"/>
              </a:rPr>
              <a:t>Devido a impossibilidade de correção de product_id e location_id nulos, optou-se por remover esses dados.</a:t>
            </a:r>
            <a:endParaRPr lang="pt-BR" sz="220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68CC0EE-CE41-5CC0-7B0A-9D5798195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79B40B32-D663-424D-F8D1-09DD27DE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084B44B-0A8D-BE90-B862-2D18CC602658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9E60B5B-3185-652C-D621-4440D83958CC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0815DEE-3CBE-FB96-5155-D328DA2E640D}"/>
              </a:ext>
            </a:extLst>
          </p:cNvPr>
          <p:cNvSpPr/>
          <p:nvPr/>
        </p:nvSpPr>
        <p:spPr>
          <a:xfrm>
            <a:off x="2841782" y="3419884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D5221492-B01E-8183-A08B-3D377F6421D7}"/>
              </a:ext>
            </a:extLst>
          </p:cNvPr>
          <p:cNvSpPr txBox="1">
            <a:spLocks/>
          </p:cNvSpPr>
          <p:nvPr/>
        </p:nvSpPr>
        <p:spPr>
          <a:xfrm>
            <a:off x="7994999" y="3546613"/>
            <a:ext cx="3970863" cy="16650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 dirty="0">
                <a:ea typeface="+mn-lt"/>
                <a:cs typeface="+mn-lt"/>
              </a:rPr>
              <a:t>Foram removidas 25 linhas no total referentes a </a:t>
            </a:r>
            <a:r>
              <a:rPr lang="pt-BR" sz="2200" dirty="0" err="1">
                <a:ea typeface="+mn-lt"/>
                <a:cs typeface="+mn-lt"/>
              </a:rPr>
              <a:t>location_id</a:t>
            </a:r>
            <a:r>
              <a:rPr lang="pt-BR" sz="2200" dirty="0">
                <a:ea typeface="+mn-lt"/>
                <a:cs typeface="+mn-lt"/>
              </a:rPr>
              <a:t> e a </a:t>
            </a:r>
            <a:r>
              <a:rPr lang="pt-BR" sz="2200" dirty="0" err="1">
                <a:ea typeface="+mn-lt"/>
                <a:cs typeface="+mn-lt"/>
              </a:rPr>
              <a:t>production_id</a:t>
            </a:r>
            <a:r>
              <a:rPr lang="pt-BR" sz="2200" dirty="0">
                <a:ea typeface="+mn-lt"/>
                <a:cs typeface="+mn-lt"/>
              </a:rPr>
              <a:t> nulos.</a:t>
            </a:r>
            <a:endParaRPr lang="pt-BR" sz="2200" dirty="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CF95623-97DB-0B8E-2E2B-AD15A0D575E9}"/>
              </a:ext>
            </a:extLst>
          </p:cNvPr>
          <p:cNvSpPr/>
          <p:nvPr/>
        </p:nvSpPr>
        <p:spPr>
          <a:xfrm>
            <a:off x="7890827" y="3419884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74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CEF6C-3C84-294B-B128-5B988EFB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A31C18A9-2CB2-B959-4785-2CBDBD245A13}"/>
              </a:ext>
            </a:extLst>
          </p:cNvPr>
          <p:cNvSpPr/>
          <p:nvPr/>
        </p:nvSpPr>
        <p:spPr>
          <a:xfrm>
            <a:off x="-132657" y="-113186"/>
            <a:ext cx="252189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488E39-78B8-4D57-E61D-BA93D7CA5E71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B194E21-4BDF-E507-6112-819824442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9930" y="1343480"/>
            <a:ext cx="9640318" cy="746233"/>
          </a:xfrm>
        </p:spPr>
        <p:txBody>
          <a:bodyPr>
            <a:noAutofit/>
          </a:bodyPr>
          <a:lstStyle/>
          <a:p>
            <a:r>
              <a:rPr lang="pt-BR" sz="3200" i="1" dirty="0"/>
              <a:t>Resultados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B94181-C54D-B9B9-9E94-0C3D3374F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9491" y="3017660"/>
            <a:ext cx="2753522" cy="4570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sz="2200">
                <a:ea typeface="+mn-lt"/>
                <a:cs typeface="+mn-lt"/>
              </a:rPr>
              <a:t>6000 Linhas iniciais.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15E4686-8E23-28E8-FA62-D94488249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42F38EA8-274A-1B84-5292-8FB00FF89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E7E141A1-0784-2342-2813-4FCDD0259092}"/>
              </a:ext>
            </a:extLst>
          </p:cNvPr>
          <p:cNvSpPr txBox="1">
            <a:spLocks/>
          </p:cNvSpPr>
          <p:nvPr/>
        </p:nvSpPr>
        <p:spPr>
          <a:xfrm>
            <a:off x="1843153" y="548198"/>
            <a:ext cx="10516404" cy="7926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i="1"/>
              <a:t>Tratamento de Dados</a:t>
            </a:r>
            <a:endParaRPr lang="pt-BR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EE6CAB3-8E46-FBE6-7654-A88E30B87970}"/>
              </a:ext>
            </a:extLst>
          </p:cNvPr>
          <p:cNvCxnSpPr>
            <a:cxnSpLocks/>
          </p:cNvCxnSpPr>
          <p:nvPr/>
        </p:nvCxnSpPr>
        <p:spPr>
          <a:xfrm>
            <a:off x="2389239" y="2131743"/>
            <a:ext cx="9802761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D5E5788-72FD-3B5F-316B-9A8140B610C3}"/>
              </a:ext>
            </a:extLst>
          </p:cNvPr>
          <p:cNvSpPr/>
          <p:nvPr/>
        </p:nvSpPr>
        <p:spPr>
          <a:xfrm>
            <a:off x="2575564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ubtítulo 2">
            <a:extLst>
              <a:ext uri="{FF2B5EF4-FFF2-40B4-BE49-F238E27FC236}">
                <a16:creationId xmlns:a16="http://schemas.microsoft.com/office/drawing/2014/main" id="{432F7BA5-EA37-0ABD-0EFC-9EEC5BC42D23}"/>
              </a:ext>
            </a:extLst>
          </p:cNvPr>
          <p:cNvSpPr txBox="1">
            <a:spLocks/>
          </p:cNvSpPr>
          <p:nvPr/>
        </p:nvSpPr>
        <p:spPr>
          <a:xfrm>
            <a:off x="7727428" y="2974913"/>
            <a:ext cx="3812887" cy="37337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2200">
                <a:ea typeface="+mn-lt"/>
                <a:cs typeface="+mn-lt"/>
              </a:rPr>
              <a:t>5975 Linhas após Tratamento.</a:t>
            </a:r>
            <a:endParaRPr lang="pt-BR" sz="2200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B0B57316-67ED-B3F7-D5C1-229F123B9EC5}"/>
              </a:ext>
            </a:extLst>
          </p:cNvPr>
          <p:cNvSpPr/>
          <p:nvPr/>
        </p:nvSpPr>
        <p:spPr>
          <a:xfrm>
            <a:off x="7602905" y="2517059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C0516D4C-0FE1-FE7F-330F-1DB874FE14D9}"/>
              </a:ext>
            </a:extLst>
          </p:cNvPr>
          <p:cNvSpPr txBox="1">
            <a:spLocks/>
          </p:cNvSpPr>
          <p:nvPr/>
        </p:nvSpPr>
        <p:spPr>
          <a:xfrm>
            <a:off x="2653624" y="4944962"/>
            <a:ext cx="3964026" cy="50347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dirty="0">
                <a:ea typeface="+mn-lt"/>
                <a:cs typeface="+mn-lt"/>
              </a:rPr>
              <a:t>25 Linhas removidas</a:t>
            </a:r>
            <a:br>
              <a:rPr lang="pt-BR" sz="2200" dirty="0">
                <a:ea typeface="+mn-lt"/>
                <a:cs typeface="+mn-lt"/>
              </a:rPr>
            </a:br>
            <a:r>
              <a:rPr lang="pt-BR" sz="2200" dirty="0">
                <a:ea typeface="+mn-lt"/>
                <a:cs typeface="+mn-lt"/>
              </a:rPr>
              <a:t> (0.42%).</a:t>
            </a:r>
            <a:endParaRPr lang="pt-BR" sz="2200" dirty="0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F985E34-4BCE-2CA9-6856-BF2DD496B9ED}"/>
              </a:ext>
            </a:extLst>
          </p:cNvPr>
          <p:cNvSpPr/>
          <p:nvPr/>
        </p:nvSpPr>
        <p:spPr>
          <a:xfrm>
            <a:off x="2566271" y="4431351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ubtítulo 2">
            <a:extLst>
              <a:ext uri="{FF2B5EF4-FFF2-40B4-BE49-F238E27FC236}">
                <a16:creationId xmlns:a16="http://schemas.microsoft.com/office/drawing/2014/main" id="{66A66237-AD67-4212-317D-4D43AD3EC1BA}"/>
              </a:ext>
            </a:extLst>
          </p:cNvPr>
          <p:cNvSpPr txBox="1">
            <a:spLocks/>
          </p:cNvSpPr>
          <p:nvPr/>
        </p:nvSpPr>
        <p:spPr>
          <a:xfrm>
            <a:off x="7653087" y="4944961"/>
            <a:ext cx="4212470" cy="37337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dirty="0">
                <a:ea typeface="+mn-lt"/>
                <a:cs typeface="+mn-lt"/>
              </a:rPr>
              <a:t>40 Células modificadas </a:t>
            </a:r>
            <a:br>
              <a:rPr lang="pt-BR" sz="2200" dirty="0">
                <a:ea typeface="+mn-lt"/>
                <a:cs typeface="+mn-lt"/>
              </a:rPr>
            </a:br>
            <a:r>
              <a:rPr lang="pt-BR" sz="2200" dirty="0">
                <a:ea typeface="+mn-lt"/>
                <a:cs typeface="+mn-lt"/>
              </a:rPr>
              <a:t>(0.7%).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1930703-1304-DF4A-CC5C-4BC50D3A7231}"/>
              </a:ext>
            </a:extLst>
          </p:cNvPr>
          <p:cNvSpPr/>
          <p:nvPr/>
        </p:nvSpPr>
        <p:spPr>
          <a:xfrm>
            <a:off x="7593612" y="4431351"/>
            <a:ext cx="4051379" cy="153383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81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EC08-86B6-FB7C-6B29-64BA6B66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B19B138F-5D94-68A7-7D0D-0BA9F57009DC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125B652-318F-6D41-4A70-F48AC0197D0C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B07BE5-4D16-F838-E34E-EA9A00025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99C64F-C173-7156-C457-DAA22E5E2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471980"/>
            <a:ext cx="9547742" cy="8468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pt-BR" b="1" dirty="0"/>
              <a:t>1. </a:t>
            </a:r>
            <a:r>
              <a:rPr lang="pt-BR" dirty="0"/>
              <a:t>Quais produtos são os mais vendidos (em valor) no Banco Shield e na Hidra? </a:t>
            </a: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6560B23-B299-C685-7661-EFE455C2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D5DF88B3-5DD9-EAC8-BEE7-F2683FAB3B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9C14CD87-8523-A7E1-EA8E-074E8F484967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8426ED6-EB2E-162D-BCE3-7579DAB52C98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Imagem 18" descr="Gráfico&#10;&#10;O conteúdo gerado por IA pode estar incorreto.">
            <a:extLst>
              <a:ext uri="{FF2B5EF4-FFF2-40B4-BE49-F238E27FC236}">
                <a16:creationId xmlns:a16="http://schemas.microsoft.com/office/drawing/2014/main" id="{6FAC6537-99A7-DA69-3A2E-4B648F42C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51" y="2945342"/>
            <a:ext cx="5563376" cy="3820058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C647525A-7470-27B9-5988-1C7C65E7238E}"/>
              </a:ext>
            </a:extLst>
          </p:cNvPr>
          <p:cNvSpPr/>
          <p:nvPr/>
        </p:nvSpPr>
        <p:spPr>
          <a:xfrm>
            <a:off x="6377651" y="2869481"/>
            <a:ext cx="5790822" cy="396536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7010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9DDC-F952-2095-02FA-DBE0D09DA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7DA48D51-2FCE-7BBF-0482-FCC528D3E2CC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2126E86-3538-860D-AE2F-8002E20EE874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9B87D0-15AE-15D0-93F5-094F6B674A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CBD3CF-6B98-5510-73F6-AA4A1FA54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471980"/>
            <a:ext cx="9547742" cy="8468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pt-BR" b="1" dirty="0"/>
              <a:t>1. </a:t>
            </a:r>
            <a:r>
              <a:rPr lang="pt-BR" dirty="0"/>
              <a:t>Quais produtos são os mais vendidos (em unidades) no Banco Shield e na Hidra? </a:t>
            </a: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8E1BFB0-9EFB-C59D-630D-275BF69DE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8D656CF7-B61D-0493-92BA-FE604418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34FF330E-9A07-8090-5676-95AA17712E8B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D0300CFE-F382-AB85-79F8-F475F6AAE65F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47FDA6A8-8D7F-C92F-158E-05A673175843}"/>
              </a:ext>
            </a:extLst>
          </p:cNvPr>
          <p:cNvSpPr/>
          <p:nvPr/>
        </p:nvSpPr>
        <p:spPr>
          <a:xfrm>
            <a:off x="2504985" y="3381685"/>
            <a:ext cx="9663488" cy="3111711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Imagem 22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E69CFB40-081C-B550-07DF-607D0B53F9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7449" y="3476315"/>
            <a:ext cx="9475278" cy="289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2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85601-56FA-DDD6-62B7-42A445B17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2CA89719-555D-C932-C26E-D33B79BF78C5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AAECB6-005F-21B1-88AC-CAC039AF2F95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40BD38-E42F-C35A-3976-1AF7BD58F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BF803CC-3DF5-2EC0-A823-4AF654E0E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471980"/>
            <a:ext cx="9547742" cy="8468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pt-BR" b="1" dirty="0"/>
              <a:t>2. </a:t>
            </a:r>
            <a:r>
              <a:rPr lang="pt-BR" dirty="0"/>
              <a:t>Em quais localidades/regiões cada banco é mais forte? </a:t>
            </a: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689A25-9A58-F34B-B55F-B1ED91B8E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D46B3205-C73F-AD0C-D8B1-5880EC6D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46B22C35-C227-3D11-E64B-A7096EAEB875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C6FE2F39-1627-638F-A6CF-EB9A8679B77C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6D586CB6-CBD9-23CE-9491-45CB4658F762}"/>
              </a:ext>
            </a:extLst>
          </p:cNvPr>
          <p:cNvSpPr/>
          <p:nvPr/>
        </p:nvSpPr>
        <p:spPr>
          <a:xfrm>
            <a:off x="6504971" y="2967510"/>
            <a:ext cx="5663501" cy="380367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E17FA7C7-B001-0679-AC3F-E8B9B2FAC8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719" y="3004825"/>
            <a:ext cx="5430008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16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C892C-E5AE-AE5E-530C-3764C7E6C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054F66A7-8A7C-08CF-761E-7E59B8994E3A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A8305E2-D4E8-AF21-0C07-8EF15C8FE38C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32E132-4881-DD93-8C93-1F8F60B81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3FACB-4687-0A3E-1C23-D05C9A95C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471980"/>
            <a:ext cx="9547742" cy="84686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l"/>
            <a:r>
              <a:rPr lang="pt-BR" b="1" dirty="0"/>
              <a:t>2. </a:t>
            </a:r>
            <a:r>
              <a:rPr lang="pt-BR" dirty="0"/>
              <a:t>Em quais localidades/regiões cada banco é mais forte? </a:t>
            </a: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5FDBE8-F53D-F9C0-F597-B01DB9C32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45D06682-3D96-8935-386C-E666DE41A6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0A6DE7D1-F574-EA2D-6221-2C4C4DD1F8A9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B04E74C3-CEC9-BB81-2C3A-7167453178A5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9756516A-AA3B-BE19-0333-C8397B827A52}"/>
              </a:ext>
            </a:extLst>
          </p:cNvPr>
          <p:cNvSpPr/>
          <p:nvPr/>
        </p:nvSpPr>
        <p:spPr>
          <a:xfrm>
            <a:off x="2460512" y="3300706"/>
            <a:ext cx="4715015" cy="338060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DFBED662-5FE5-5211-E507-5E282A738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4985" y="3322296"/>
            <a:ext cx="4620481" cy="3251228"/>
          </a:xfrm>
          <a:prstGeom prst="rect">
            <a:avLst/>
          </a:prstGeom>
        </p:spPr>
      </p:pic>
      <p:pic>
        <p:nvPicPr>
          <p:cNvPr id="11" name="Imagem 10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2B1FFDDA-494E-019A-6188-C3ACBA4E3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4800" y="3318845"/>
            <a:ext cx="4877200" cy="3268670"/>
          </a:xfrm>
          <a:prstGeom prst="rect">
            <a:avLst/>
          </a:prstGeom>
        </p:spPr>
      </p:pic>
      <p:sp>
        <p:nvSpPr>
          <p:cNvPr id="16" name="Retângulo 15">
            <a:extLst>
              <a:ext uri="{FF2B5EF4-FFF2-40B4-BE49-F238E27FC236}">
                <a16:creationId xmlns:a16="http://schemas.microsoft.com/office/drawing/2014/main" id="{A208736D-E5B4-88A3-7C25-22FD59161185}"/>
              </a:ext>
            </a:extLst>
          </p:cNvPr>
          <p:cNvSpPr/>
          <p:nvPr/>
        </p:nvSpPr>
        <p:spPr>
          <a:xfrm>
            <a:off x="7278148" y="3297603"/>
            <a:ext cx="4890325" cy="3380605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909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39134-3770-97FE-B1B1-EB5A6279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FE1DD0A4-1D29-83F0-FCE3-CABA9CCD9A80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DDBF2F9-4212-A0B1-86FC-A16F46D44337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433EF5-46E0-F4B7-78D4-313BDD7CA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213BF1-3E9C-9BFE-1670-365B5311E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574904"/>
            <a:ext cx="3050863" cy="1661891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l"/>
            <a:r>
              <a:rPr lang="pt-BR" sz="8800" b="1" dirty="0"/>
              <a:t>3. </a:t>
            </a:r>
            <a:r>
              <a:rPr lang="pt-BR" sz="8800" dirty="0"/>
              <a:t>Quais produtos e localidades concentram maior risco de inadimplência (ex.: 30+ DPD) e qual o trade-off com volume?  *</a:t>
            </a:r>
            <a:r>
              <a:rPr lang="pt-BR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8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Banco</a:t>
            </a:r>
            <a:r>
              <a:rPr lang="pt-BR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8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Shield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0B67D4-6727-3851-FCFE-DFB534A89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820BED23-4009-CE90-92B3-06F5676408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5D70C36A-E1BF-18BD-DA24-4C286100AED3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576129BF-FD09-F70C-217F-151CB81CD8B2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A7877580-FB57-FC4A-1D3C-7B0E0F238BF9}"/>
              </a:ext>
            </a:extLst>
          </p:cNvPr>
          <p:cNvSpPr/>
          <p:nvPr/>
        </p:nvSpPr>
        <p:spPr>
          <a:xfrm>
            <a:off x="5733489" y="2574904"/>
            <a:ext cx="6319238" cy="4236796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8" name="Imagem 17" descr="Uma imagem contendo Tabela&#10;&#10;O conteúdo gerado por IA pode estar incorreto.">
            <a:extLst>
              <a:ext uri="{FF2B5EF4-FFF2-40B4-BE49-F238E27FC236}">
                <a16:creationId xmlns:a16="http://schemas.microsoft.com/office/drawing/2014/main" id="{6E85F483-CF9F-016E-0502-B2BFEDB89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256" y="2655243"/>
            <a:ext cx="6138579" cy="404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5F8F-F008-7F91-0530-2753AD90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E0C11A9E-5908-DD55-0011-1289075B5BE9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B9A568D-6CCC-DDD6-E8A3-E5506D95F096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5B1C10-8C66-400B-AA34-BCB399362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8D4682-8A46-B9EA-73D6-5946D05E2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985" y="2539890"/>
            <a:ext cx="3086296" cy="199755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l"/>
            <a:r>
              <a:rPr lang="pt-BR" sz="8800" b="1" dirty="0"/>
              <a:t>3. </a:t>
            </a:r>
            <a:r>
              <a:rPr lang="pt-BR" sz="8800" dirty="0"/>
              <a:t>Quais produtos e localidades concentram maior risco de inadimplência (ex.: 30+ DPD) e qual o trade-off com volume?  *</a:t>
            </a:r>
            <a:r>
              <a:rPr lang="pt-BR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pt-BR" sz="8800" b="1" i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Hidra</a:t>
            </a: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427238-575B-77D0-225F-9FE34C18D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9622F575-5247-E3EB-1076-03456CF79A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4D5BC89-368A-944F-97F1-B463242732E8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958AF43-FDCC-DB3B-E1B3-D64B056CE3A4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AD7F3622-C3F3-6258-68FB-371595A9A1BC}"/>
              </a:ext>
            </a:extLst>
          </p:cNvPr>
          <p:cNvSpPr/>
          <p:nvPr/>
        </p:nvSpPr>
        <p:spPr>
          <a:xfrm>
            <a:off x="5707027" y="2514883"/>
            <a:ext cx="6369704" cy="4117412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 descr="Gráfico&#10;&#10;O conteúdo gerado por IA pode estar incorreto.">
            <a:extLst>
              <a:ext uri="{FF2B5EF4-FFF2-40B4-BE49-F238E27FC236}">
                <a16:creationId xmlns:a16="http://schemas.microsoft.com/office/drawing/2014/main" id="{65BBB501-2058-8A0F-12EE-449426090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1215" y="2563040"/>
            <a:ext cx="6272898" cy="395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25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584F6-D01B-5F38-0BC5-AE8D797F5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5EA2D52C-EFE9-C091-31D1-B4B63EFD2429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829FC4-D783-EB36-E7FD-4BAA638960C3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2138ED-A3E3-EF0D-6025-52948C7F7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A2897E-BA32-2ACC-765B-9A12701BA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276" y="2354526"/>
            <a:ext cx="9687724" cy="84686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l">
              <a:buNone/>
            </a:pPr>
            <a:r>
              <a:rPr lang="pt-BR" sz="8800" b="1" i="0" dirty="0">
                <a:solidFill>
                  <a:srgbClr val="000000"/>
                </a:solidFill>
                <a:effectLst/>
              </a:rPr>
              <a:t>4. </a:t>
            </a:r>
            <a:r>
              <a:rPr lang="pt-BR" sz="8800" b="0" i="0" dirty="0">
                <a:solidFill>
                  <a:srgbClr val="000000"/>
                </a:solidFill>
                <a:effectLst/>
              </a:rPr>
              <a:t>Qual é a maior oportunidade de crescimento para o Banco Shield: (i) ganhar </a:t>
            </a:r>
            <a:r>
              <a:rPr lang="pt-BR" sz="8800" b="0" i="0" dirty="0" err="1">
                <a:solidFill>
                  <a:srgbClr val="000000"/>
                </a:solidFill>
                <a:effectLst/>
              </a:rPr>
              <a:t>share</a:t>
            </a:r>
            <a:r>
              <a:rPr lang="pt-BR" sz="8800" b="0" i="0" dirty="0">
                <a:solidFill>
                  <a:srgbClr val="000000"/>
                </a:solidFill>
                <a:effectLst/>
              </a:rPr>
              <a:t> onde já é </a:t>
            </a:r>
            <a:r>
              <a:rPr lang="pt-BR" sz="8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forte, (</a:t>
            </a:r>
            <a:r>
              <a:rPr lang="pt-BR" sz="8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ii</a:t>
            </a:r>
            <a:r>
              <a:rPr lang="pt-BR" sz="8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 atacar nichos onde a Hidra domina, ou (</a:t>
            </a:r>
            <a:r>
              <a:rPr lang="pt-BR" sz="8800" b="0" i="0" dirty="0" err="1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iii</a:t>
            </a:r>
            <a:r>
              <a:rPr lang="pt-BR" sz="8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) reduzir risco para liberar capacidade de crescimento?</a:t>
            </a:r>
            <a:r>
              <a:rPr lang="pt-BR" sz="7200" dirty="0"/>
              <a:t> </a:t>
            </a:r>
            <a:br>
              <a:rPr lang="pt-BR" sz="7200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939FD43-01A1-8DCE-4755-4603AFE15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8026ADE2-FCA9-4D6D-3D03-A4FDDED23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B322CF48-CA68-620F-A778-E8147AF953A0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A24DD2F-24E9-952B-D135-2411F5A08FDF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84937309-7376-E2DF-0B2C-3FD71AD5B827}"/>
              </a:ext>
            </a:extLst>
          </p:cNvPr>
          <p:cNvSpPr/>
          <p:nvPr/>
        </p:nvSpPr>
        <p:spPr>
          <a:xfrm>
            <a:off x="4244765" y="3201391"/>
            <a:ext cx="5964106" cy="3610308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</a:t>
            </a:r>
          </a:p>
        </p:txBody>
      </p:sp>
      <p:pic>
        <p:nvPicPr>
          <p:cNvPr id="16" name="Imagem 15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122FF905-C656-9BD9-CF4E-E99EFC1037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490" y="3224542"/>
            <a:ext cx="5883083" cy="354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34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B16B9-A314-012F-C794-A2809E00F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93DC04C4-E976-2A18-19EB-7FB85AFD9F5F}"/>
              </a:ext>
            </a:extLst>
          </p:cNvPr>
          <p:cNvSpPr/>
          <p:nvPr/>
        </p:nvSpPr>
        <p:spPr>
          <a:xfrm>
            <a:off x="-115747" y="-113186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B9C3CD0-D8B5-B5B2-2281-1F92304BDC72}"/>
              </a:ext>
            </a:extLst>
          </p:cNvPr>
          <p:cNvSpPr/>
          <p:nvPr/>
        </p:nvSpPr>
        <p:spPr>
          <a:xfrm>
            <a:off x="-1" y="-366155"/>
            <a:ext cx="1999014" cy="7431972"/>
          </a:xfrm>
          <a:prstGeom prst="round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64B544-2E63-EC68-1608-413E974BD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4310" y="1429049"/>
            <a:ext cx="9008417" cy="792696"/>
          </a:xfrm>
        </p:spPr>
        <p:txBody>
          <a:bodyPr>
            <a:noAutofit/>
          </a:bodyPr>
          <a:lstStyle/>
          <a:p>
            <a:r>
              <a:rPr lang="pt-BR" sz="3200" i="1" dirty="0"/>
              <a:t>KPI de negócio + KPI de qualidade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4C84E8-F20F-010B-4C10-BC949BB8A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276" y="2354526"/>
            <a:ext cx="9687724" cy="846865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l">
              <a:buNone/>
            </a:pPr>
            <a:r>
              <a:rPr lang="pt-BR" sz="8800" b="1" i="0" dirty="0">
                <a:solidFill>
                  <a:srgbClr val="000000"/>
                </a:solidFill>
                <a:effectLst/>
              </a:rPr>
              <a:t>5. </a:t>
            </a:r>
            <a:r>
              <a:rPr lang="pt-BR" sz="8800" b="0" i="0" dirty="0">
                <a:solidFill>
                  <a:srgbClr val="000000"/>
                </a:solidFill>
                <a:effectLst/>
              </a:rPr>
              <a:t>Quais sinais de qualidade de dados precisam virar controles automáticos (ex.: chaves inválidas, campos vazios, valores negativos, duplicidades) para garantir SLA e confiabilidade?</a:t>
            </a:r>
            <a:r>
              <a:rPr lang="pt-BR" sz="8800" dirty="0"/>
              <a:t> </a:t>
            </a:r>
            <a:br>
              <a:rPr lang="pt-BR" sz="7200" dirty="0"/>
            </a:br>
            <a:br>
              <a:rPr lang="pt-BR" sz="7200" dirty="0"/>
            </a:br>
            <a:br>
              <a:rPr lang="pt-BR" dirty="0"/>
            </a:br>
            <a:br>
              <a:rPr lang="pt-BR" dirty="0"/>
            </a:br>
            <a:br>
              <a:rPr lang="pt-BR" dirty="0"/>
            </a:br>
            <a:endParaRPr lang="de-DE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9249F05-BF91-CF4A-29AF-02F5C74D2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36" y="127411"/>
            <a:ext cx="922813" cy="942605"/>
          </a:xfrm>
          <a:prstGeom prst="rect">
            <a:avLst/>
          </a:prstGeom>
        </p:spPr>
      </p:pic>
      <p:pic>
        <p:nvPicPr>
          <p:cNvPr id="9" name="Imagem 8" descr="Forma, Seta&#10;&#10;O conteúdo gerado por IA pode estar incorreto.">
            <a:extLst>
              <a:ext uri="{FF2B5EF4-FFF2-40B4-BE49-F238E27FC236}">
                <a16:creationId xmlns:a16="http://schemas.microsoft.com/office/drawing/2014/main" id="{29489E6D-B99D-282D-A489-9FC098D6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>
            <a:off x="921575" y="124938"/>
            <a:ext cx="938565" cy="948395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A51A3652-B790-D828-6169-5E4B1543EE47}"/>
              </a:ext>
            </a:extLst>
          </p:cNvPr>
          <p:cNvSpPr txBox="1">
            <a:spLocks/>
          </p:cNvSpPr>
          <p:nvPr/>
        </p:nvSpPr>
        <p:spPr>
          <a:xfrm>
            <a:off x="2941107" y="0"/>
            <a:ext cx="8796157" cy="146636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 dirty="0"/>
              <a:t>Perguntas de negócio e como medimos sucesso</a:t>
            </a:r>
            <a:endParaRPr lang="pt-BR" sz="4800" b="1" i="1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6E4D9801-8AB6-E873-7580-68DDA7670B45}"/>
              </a:ext>
            </a:extLst>
          </p:cNvPr>
          <p:cNvCxnSpPr>
            <a:cxnSpLocks/>
          </p:cNvCxnSpPr>
          <p:nvPr/>
        </p:nvCxnSpPr>
        <p:spPr>
          <a:xfrm>
            <a:off x="2389239" y="2212129"/>
            <a:ext cx="9899895" cy="0"/>
          </a:xfrm>
          <a:prstGeom prst="line">
            <a:avLst/>
          </a:prstGeom>
          <a:ln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EA161EB-5B4E-6ADC-FA36-40C11ED63B59}"/>
              </a:ext>
            </a:extLst>
          </p:cNvPr>
          <p:cNvSpPr/>
          <p:nvPr/>
        </p:nvSpPr>
        <p:spPr>
          <a:xfrm>
            <a:off x="2504277" y="3813895"/>
            <a:ext cx="3734478" cy="1487310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D02EF53-7CFD-E2B3-9F3F-717EB4E1E73C}"/>
              </a:ext>
            </a:extLst>
          </p:cNvPr>
          <p:cNvSpPr txBox="1"/>
          <p:nvPr/>
        </p:nvSpPr>
        <p:spPr>
          <a:xfrm>
            <a:off x="2941107" y="6002591"/>
            <a:ext cx="23665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Aplicar filtros para:​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91A04988-B9D1-7B71-B374-298F10FF233D}"/>
              </a:ext>
            </a:extLst>
          </p:cNvPr>
          <p:cNvGrpSpPr/>
          <p:nvPr/>
        </p:nvGrpSpPr>
        <p:grpSpPr>
          <a:xfrm>
            <a:off x="7234177" y="3116556"/>
            <a:ext cx="4818550" cy="3738459"/>
            <a:chOff x="7189905" y="2608127"/>
            <a:chExt cx="4818550" cy="3738459"/>
          </a:xfrm>
        </p:grpSpPr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A15A3D97-649C-3BBB-CC3C-DD07D4CD61AD}"/>
                </a:ext>
              </a:extLst>
            </p:cNvPr>
            <p:cNvSpPr txBox="1"/>
            <p:nvPr/>
          </p:nvSpPr>
          <p:spPr>
            <a:xfrm>
              <a:off x="7234177" y="3541887"/>
              <a:ext cx="472247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+mj-lt"/>
                <a:buAutoNum type="arabicPeriod"/>
              </a:pPr>
              <a:endParaRPr lang="pt-BR" sz="2000" dirty="0"/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AA9853F3-35A7-F674-1C27-11CC1340DF4A}"/>
                </a:ext>
              </a:extLst>
            </p:cNvPr>
            <p:cNvSpPr txBox="1"/>
            <p:nvPr/>
          </p:nvSpPr>
          <p:spPr>
            <a:xfrm>
              <a:off x="7189905" y="2608127"/>
              <a:ext cx="4818550" cy="3738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pt-BR" sz="2000" dirty="0"/>
                <a:t> Todos valores numéricos positivos;​ </a:t>
              </a:r>
            </a:p>
            <a:p>
              <a:pPr marL="45720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pt-BR" sz="2000" dirty="0"/>
                <a:t>Forçar valores não nulos em todos os campos; </a:t>
              </a:r>
            </a:p>
            <a:p>
              <a:pPr marL="45720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pt-BR" sz="2000" dirty="0"/>
                <a:t>Auto incrementar chave primaria junto com a regra de criação (</a:t>
              </a:r>
              <a:r>
                <a:rPr lang="pt-BR" sz="2000" dirty="0" err="1"/>
                <a:t>contract_id</a:t>
              </a:r>
              <a:r>
                <a:rPr lang="pt-BR" sz="2000" dirty="0"/>
                <a:t>);​ </a:t>
              </a:r>
            </a:p>
            <a:p>
              <a:pPr marL="457200" indent="-457200">
                <a:lnSpc>
                  <a:spcPct val="150000"/>
                </a:lnSpc>
                <a:buFont typeface="+mj-lt"/>
                <a:buAutoNum type="arabicPeriod"/>
              </a:pPr>
              <a:r>
                <a:rPr lang="pt-BR" sz="2000" dirty="0"/>
                <a:t>Implementar </a:t>
              </a:r>
              <a:r>
                <a:rPr lang="pt-BR" sz="2000" dirty="0" err="1"/>
                <a:t>ComboBox</a:t>
              </a:r>
              <a:r>
                <a:rPr lang="pt-BR" sz="2000" dirty="0"/>
                <a:t> em campos de categoria (bank).​</a:t>
              </a:r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B23083EF-EE31-DFA8-030D-08FCB61F3485}"/>
              </a:ext>
            </a:extLst>
          </p:cNvPr>
          <p:cNvSpPr/>
          <p:nvPr/>
        </p:nvSpPr>
        <p:spPr>
          <a:xfrm>
            <a:off x="7153152" y="3069694"/>
            <a:ext cx="4899575" cy="3738459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05529F95-09D2-5059-9455-7D866CAF9D22}"/>
              </a:ext>
            </a:extLst>
          </p:cNvPr>
          <p:cNvSpPr txBox="1"/>
          <p:nvPr/>
        </p:nvSpPr>
        <p:spPr>
          <a:xfrm>
            <a:off x="2557379" y="3885340"/>
            <a:ext cx="36813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/>
              <a:t>Criar uma solução para facilitar a inclusão (Microsoft Power Apps,  </a:t>
            </a:r>
            <a:r>
              <a:rPr lang="pt-BR" sz="2000" dirty="0" err="1"/>
              <a:t>Forms</a:t>
            </a:r>
            <a:r>
              <a:rPr lang="pt-BR" sz="2000" dirty="0"/>
              <a:t> ou Windows </a:t>
            </a:r>
            <a:r>
              <a:rPr lang="pt-BR" sz="2000" dirty="0" err="1"/>
              <a:t>Forms</a:t>
            </a:r>
            <a:r>
              <a:rPr lang="pt-BR" sz="2000" dirty="0"/>
              <a:t> com C#).</a:t>
            </a:r>
          </a:p>
        </p:txBody>
      </p:sp>
      <p:cxnSp>
        <p:nvCxnSpPr>
          <p:cNvPr id="38" name="Conector: Angulado 37">
            <a:extLst>
              <a:ext uri="{FF2B5EF4-FFF2-40B4-BE49-F238E27FC236}">
                <a16:creationId xmlns:a16="http://schemas.microsoft.com/office/drawing/2014/main" id="{78745DA6-A3AC-55D1-CEBA-7288F321025E}"/>
              </a:ext>
            </a:extLst>
          </p:cNvPr>
          <p:cNvCxnSpPr>
            <a:cxnSpLocks/>
          </p:cNvCxnSpPr>
          <p:nvPr/>
        </p:nvCxnSpPr>
        <p:spPr>
          <a:xfrm flipV="1">
            <a:off x="5203443" y="4909093"/>
            <a:ext cx="1949709" cy="1293553"/>
          </a:xfrm>
          <a:prstGeom prst="bentConnector3">
            <a:avLst>
              <a:gd name="adj1" fmla="val 84432"/>
            </a:avLst>
          </a:prstGeom>
          <a:ln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242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D528F-C005-F786-3707-E83CC2D05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16215C3-5DA8-0668-ABA8-AB80861E0DA5}"/>
              </a:ext>
            </a:extLst>
          </p:cNvPr>
          <p:cNvSpPr/>
          <p:nvPr/>
        </p:nvSpPr>
        <p:spPr>
          <a:xfrm>
            <a:off x="10347767" y="-300942"/>
            <a:ext cx="4456253" cy="7442522"/>
          </a:xfrm>
          <a:prstGeom prst="rect">
            <a:avLst/>
          </a:prstGeom>
          <a:solidFill>
            <a:srgbClr val="FF5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B4C0F6-336E-EDF0-2093-455456C92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5753" y="2376120"/>
            <a:ext cx="9160493" cy="1689100"/>
          </a:xfrm>
        </p:spPr>
        <p:txBody>
          <a:bodyPr/>
          <a:lstStyle/>
          <a:p>
            <a:r>
              <a:rPr lang="de-DE" b="1" dirty="0">
                <a:ea typeface="+mj-lt"/>
                <a:cs typeface="+mj-lt"/>
              </a:rPr>
              <a:t>Obrigada pela atenção!</a:t>
            </a:r>
            <a:endParaRPr lang="pt-BR" b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25FF1F2-5305-2E99-6F3E-84D493E5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91" y="1222680"/>
            <a:ext cx="1159472" cy="1153440"/>
          </a:xfrm>
          <a:prstGeom prst="rect">
            <a:avLst/>
          </a:prstGeom>
        </p:spPr>
      </p:pic>
      <p:pic>
        <p:nvPicPr>
          <p:cNvPr id="7" name="Imagem 6" descr="Forma, Seta&#10;&#10;O conteúdo gerado por IA pode estar incorreto.">
            <a:extLst>
              <a:ext uri="{FF2B5EF4-FFF2-40B4-BE49-F238E27FC236}">
                <a16:creationId xmlns:a16="http://schemas.microsoft.com/office/drawing/2014/main" id="{841620E1-A3B6-F9B6-8071-C37CBA6F7F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710" r="-881" b="2564"/>
          <a:stretch>
            <a:fillRect/>
          </a:stretch>
        </p:blipFill>
        <p:spPr>
          <a:xfrm flipH="1">
            <a:off x="0" y="0"/>
            <a:ext cx="1124690" cy="113614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F5A37C16-0276-3D52-4461-F4EA405409CE}"/>
              </a:ext>
            </a:extLst>
          </p:cNvPr>
          <p:cNvSpPr/>
          <p:nvPr/>
        </p:nvSpPr>
        <p:spPr>
          <a:xfrm>
            <a:off x="11107073" y="-160503"/>
            <a:ext cx="2504986" cy="717900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5C65DA5-AA90-4A31-6BED-A46323794B08}"/>
              </a:ext>
            </a:extLst>
          </p:cNvPr>
          <p:cNvSpPr/>
          <p:nvPr/>
        </p:nvSpPr>
        <p:spPr>
          <a:xfrm>
            <a:off x="11921008" y="-160503"/>
            <a:ext cx="2188761" cy="717900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35321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925</Words>
  <Application>Microsoft Office PowerPoint</Application>
  <PresentationFormat>Widescreen</PresentationFormat>
  <Paragraphs>81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Banco Shield </vt:lpstr>
      <vt:lpstr>problema → confiabilidade → insights → ações</vt:lpstr>
      <vt:lpstr>Google Colab + Arquivos CSV + Power BI + GitHub</vt:lpstr>
      <vt:lpstr>Padronização + Validação + Auditoria + Precisão</vt:lpstr>
      <vt:lpstr> Correção de duplicatas de contract_id</vt:lpstr>
      <vt:lpstr>Padronização bank e Correção ano_mes inválido</vt:lpstr>
      <vt:lpstr> Correção de valores negativos financed_amount</vt:lpstr>
      <vt:lpstr>Remoção de dados product_id e location_id nulos</vt:lpstr>
      <vt:lpstr>Resultados</vt:lpstr>
      <vt:lpstr>KPI de negócio + KPI de qualidade</vt:lpstr>
      <vt:lpstr>KPI de negócio + KPI de qualidade</vt:lpstr>
      <vt:lpstr>KPI de negócio + KPI de qualidade</vt:lpstr>
      <vt:lpstr>KPI de negócio + KPI de qualidade</vt:lpstr>
      <vt:lpstr>KPI de negócio + KPI de qualidade</vt:lpstr>
      <vt:lpstr>KPI de negócio + KPI de qualidade</vt:lpstr>
      <vt:lpstr>KPI de negócio + KPI de qualidade</vt:lpstr>
      <vt:lpstr>KPI de negócio + KPI de qualidade</vt:lpstr>
      <vt:lpstr>Obrigada pela atenção!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Cardoso</dc:creator>
  <cp:lastModifiedBy>Daniele Cardoso</cp:lastModifiedBy>
  <cp:revision>8</cp:revision>
  <dcterms:created xsi:type="dcterms:W3CDTF">2025-12-25T11:50:15Z</dcterms:created>
  <dcterms:modified xsi:type="dcterms:W3CDTF">2025-12-26T16:21:47Z</dcterms:modified>
</cp:coreProperties>
</file>